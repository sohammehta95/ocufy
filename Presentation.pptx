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Amatic SC"/>
      <p:regular r:id="rId31"/>
      <p:bold r:id="rId32"/>
    </p:embeddedFont>
    <p:embeddedFont>
      <p:font typeface="Questrial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maticSC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Questrial-regular.fntdata"/><Relationship Id="rId10" Type="http://schemas.openxmlformats.org/officeDocument/2006/relationships/slide" Target="slides/slide5.xml"/><Relationship Id="rId32" Type="http://schemas.openxmlformats.org/officeDocument/2006/relationships/font" Target="fonts/AmaticSC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Shape 17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Shape 18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Shape 18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Shape 19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Shape 20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Shape 21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Shape 2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Shape 22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Shape 23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Shape 24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Shape 24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Shape 25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Shape 26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Shape 27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Shape 2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Shape 29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Shape 30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Shape 31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Shape 32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Shape 33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337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Shape 33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Shape 34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Shape 35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Shape 35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Shape 36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Shape 14"/>
          <p:cNvSpPr/>
          <p:nvPr/>
        </p:nvSpPr>
        <p:spPr>
          <a:xfrm>
            <a:off x="-1" y="0"/>
            <a:ext cx="12192000" cy="4572001"/>
          </a:xfrm>
          <a:custGeom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Shape 15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  <a:defRPr b="0" i="0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Shape 16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estrial"/>
              <a:buNone/>
              <a:defRPr b="0" i="0" sz="1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" name="Shape 1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" name="Shape 20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  <a:defRPr b="0" i="0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Char char=" "/>
              <a:defRPr b="0" i="0" sz="2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•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Shape 29"/>
          <p:cNvSpPr/>
          <p:nvPr/>
        </p:nvSpPr>
        <p:spPr>
          <a:xfrm>
            <a:off x="-1" y="0"/>
            <a:ext cx="12192000" cy="4572001"/>
          </a:xfrm>
          <a:custGeom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Shape 30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  <a:defRPr b="0" i="0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Shape 31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estrial"/>
              <a:buNone/>
              <a:defRPr b="0" i="0" sz="1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2" name="Shape 3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3" name="Shape 3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Shape 35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  <a:defRPr b="0" i="0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Shape 38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Char char=" "/>
              <a:defRPr b="0" i="0" sz="2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•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Char char=" "/>
              <a:defRPr b="0" i="0" sz="2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•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1" name="Shape 4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2" name="Shape 4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  <a:defRPr b="0" i="0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5" name="Shape 45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Questrial"/>
              <a:buNone/>
              <a:defRPr b="0" i="0" sz="2300" u="none" cap="none" strike="noStrike">
                <a:solidFill>
                  <a:schemeClr val="accen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Char char=" "/>
              <a:defRPr b="0" i="0" sz="2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•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Questrial"/>
              <a:buNone/>
              <a:defRPr b="0" i="0" sz="2300" u="none" cap="none" strike="noStrike">
                <a:solidFill>
                  <a:schemeClr val="accen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8" name="Shape 48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Char char=" "/>
              <a:defRPr b="0" i="0" sz="2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•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9" name="Shape 4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0" name="Shape 5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  <a:defRPr b="0" i="0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" name="Shape 5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5" name="Shape 5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showMasterSp="0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Questrial"/>
              <a:buNone/>
              <a:defRPr b="0" i="0" sz="4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810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estrial"/>
              <a:buChar char=" "/>
              <a:defRPr b="0" i="0" sz="2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Questrial"/>
              <a:buNone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  <a:defRPr b="0" i="0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Shape 70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Questrial"/>
              <a:buNone/>
              <a:defRPr b="0" i="0" sz="3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estrial"/>
              <a:buNone/>
              <a:defRPr b="0" i="0" sz="1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2" name="Shape 7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3" name="Shape 7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5" name="Shape 75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  <a:defRPr b="0" i="0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8" name="Shape 78"/>
          <p:cNvSpPr txBox="1"/>
          <p:nvPr>
            <p:ph idx="1" type="body"/>
          </p:nvPr>
        </p:nvSpPr>
        <p:spPr>
          <a:xfrm rot="5400000">
            <a:off x="3872484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Char char=" "/>
              <a:defRPr b="0" i="0" sz="2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•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0" name="Shape 8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showMasterSp="0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  <a:defRPr b="0" i="0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4" name="Shape 84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Char char=" "/>
              <a:defRPr b="0" i="0" sz="2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•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5" name="Shape 8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6" name="Shape 8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7" name="Shape 8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Shape 88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Shape 98"/>
          <p:cNvSpPr/>
          <p:nvPr/>
        </p:nvSpPr>
        <p:spPr>
          <a:xfrm>
            <a:off x="-1" y="0"/>
            <a:ext cx="12192000" cy="4572001"/>
          </a:xfrm>
          <a:custGeom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Shape 99"/>
          <p:cNvSpPr txBox="1"/>
          <p:nvPr>
            <p:ph type="ctrTitle"/>
          </p:nvPr>
        </p:nvSpPr>
        <p:spPr>
          <a:xfrm>
            <a:off x="457200" y="4960137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100"/>
              <a:buFont typeface="Questrial"/>
              <a:buNone/>
              <a:defRPr b="0" i="0" sz="5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00" name="Shape 100"/>
          <p:cNvSpPr txBox="1"/>
          <p:nvPr>
            <p:ph idx="1" type="subTitle"/>
          </p:nvPr>
        </p:nvSpPr>
        <p:spPr>
          <a:xfrm>
            <a:off x="8610600" y="4960137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Questrial"/>
              <a:buNone/>
              <a:defRPr b="0" i="0" sz="19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900"/>
              <a:buFont typeface="Noto Sans Symbols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1" name="Shape 101"/>
          <p:cNvSpPr txBox="1"/>
          <p:nvPr>
            <p:ph idx="10" type="dt"/>
          </p:nvPr>
        </p:nvSpPr>
        <p:spPr>
          <a:xfrm>
            <a:off x="1024129" y="6470704"/>
            <a:ext cx="215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2" name="Shape 102"/>
          <p:cNvSpPr txBox="1"/>
          <p:nvPr>
            <p:ph idx="11" type="ftr"/>
          </p:nvPr>
        </p:nvSpPr>
        <p:spPr>
          <a:xfrm>
            <a:off x="4842932" y="6470704"/>
            <a:ext cx="590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3" name="Shape 103"/>
          <p:cNvSpPr txBox="1"/>
          <p:nvPr>
            <p:ph idx="12" type="sldNum"/>
          </p:nvPr>
        </p:nvSpPr>
        <p:spPr>
          <a:xfrm>
            <a:off x="10837333" y="6470704"/>
            <a:ext cx="9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4" name="Shape 104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100"/>
              <a:buFont typeface="Questrial"/>
              <a:buNone/>
              <a:defRPr b="0" i="0" sz="5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07" name="Shape 107"/>
          <p:cNvSpPr txBox="1"/>
          <p:nvPr>
            <p:ph idx="1" type="body"/>
          </p:nvPr>
        </p:nvSpPr>
        <p:spPr>
          <a:xfrm>
            <a:off x="1024128" y="2286000"/>
            <a:ext cx="97200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746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Questrial"/>
              <a:buChar char=" "/>
              <a:defRPr b="0" i="0" sz="2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•"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8" name="Shape 108"/>
          <p:cNvSpPr txBox="1"/>
          <p:nvPr>
            <p:ph idx="10" type="dt"/>
          </p:nvPr>
        </p:nvSpPr>
        <p:spPr>
          <a:xfrm>
            <a:off x="1024129" y="6470704"/>
            <a:ext cx="215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9" name="Shape 109"/>
          <p:cNvSpPr txBox="1"/>
          <p:nvPr>
            <p:ph idx="11" type="ftr"/>
          </p:nvPr>
        </p:nvSpPr>
        <p:spPr>
          <a:xfrm>
            <a:off x="4842932" y="6470704"/>
            <a:ext cx="590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0" name="Shape 110"/>
          <p:cNvSpPr txBox="1"/>
          <p:nvPr>
            <p:ph idx="12" type="sldNum"/>
          </p:nvPr>
        </p:nvSpPr>
        <p:spPr>
          <a:xfrm>
            <a:off x="10837333" y="6470704"/>
            <a:ext cx="9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showMasterSp="0" type="secHead">
  <p:cSld name="SECTION_HEAD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Shape 113"/>
          <p:cNvSpPr/>
          <p:nvPr/>
        </p:nvSpPr>
        <p:spPr>
          <a:xfrm>
            <a:off x="-1" y="0"/>
            <a:ext cx="12192000" cy="4572001"/>
          </a:xfrm>
          <a:custGeom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Shape 114"/>
          <p:cNvSpPr txBox="1"/>
          <p:nvPr>
            <p:ph type="title"/>
          </p:nvPr>
        </p:nvSpPr>
        <p:spPr>
          <a:xfrm>
            <a:off x="457200" y="4960137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100"/>
              <a:buFont typeface="Questrial"/>
              <a:buNone/>
              <a:defRPr b="0" i="0" sz="5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15" name="Shape 115"/>
          <p:cNvSpPr txBox="1"/>
          <p:nvPr>
            <p:ph idx="1" type="body"/>
          </p:nvPr>
        </p:nvSpPr>
        <p:spPr>
          <a:xfrm>
            <a:off x="8610600" y="4960137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Questrial"/>
              <a:buNone/>
              <a:defRPr b="0" i="0" sz="19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None/>
              <a:defRPr b="0" i="0" sz="19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6" name="Shape 116"/>
          <p:cNvSpPr txBox="1"/>
          <p:nvPr>
            <p:ph idx="10" type="dt"/>
          </p:nvPr>
        </p:nvSpPr>
        <p:spPr>
          <a:xfrm>
            <a:off x="1024129" y="6470704"/>
            <a:ext cx="215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7" name="Shape 117"/>
          <p:cNvSpPr txBox="1"/>
          <p:nvPr>
            <p:ph idx="11" type="ftr"/>
          </p:nvPr>
        </p:nvSpPr>
        <p:spPr>
          <a:xfrm>
            <a:off x="4842932" y="6470704"/>
            <a:ext cx="590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sz="11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8" name="Shape 118"/>
          <p:cNvSpPr txBox="1"/>
          <p:nvPr>
            <p:ph idx="12" type="sldNum"/>
          </p:nvPr>
        </p:nvSpPr>
        <p:spPr>
          <a:xfrm>
            <a:off x="10837333" y="6470704"/>
            <a:ext cx="9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9" name="Shape 119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100"/>
              <a:buFont typeface="Questrial"/>
              <a:buNone/>
              <a:defRPr b="0" i="0" sz="5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22" name="Shape 122"/>
          <p:cNvSpPr txBox="1"/>
          <p:nvPr>
            <p:ph idx="1" type="body"/>
          </p:nvPr>
        </p:nvSpPr>
        <p:spPr>
          <a:xfrm>
            <a:off x="1024127" y="2286000"/>
            <a:ext cx="4754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746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Questrial"/>
              <a:buChar char=" "/>
              <a:defRPr b="0" i="0" sz="2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•"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3" name="Shape 123"/>
          <p:cNvSpPr txBox="1"/>
          <p:nvPr>
            <p:ph idx="2" type="body"/>
          </p:nvPr>
        </p:nvSpPr>
        <p:spPr>
          <a:xfrm>
            <a:off x="5989320" y="2286000"/>
            <a:ext cx="4754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746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Questrial"/>
              <a:buChar char=" "/>
              <a:defRPr b="0" i="0" sz="2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•"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4" name="Shape 124"/>
          <p:cNvSpPr txBox="1"/>
          <p:nvPr>
            <p:ph idx="10" type="dt"/>
          </p:nvPr>
        </p:nvSpPr>
        <p:spPr>
          <a:xfrm>
            <a:off x="1024129" y="6470704"/>
            <a:ext cx="215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5" name="Shape 125"/>
          <p:cNvSpPr txBox="1"/>
          <p:nvPr>
            <p:ph idx="11" type="ftr"/>
          </p:nvPr>
        </p:nvSpPr>
        <p:spPr>
          <a:xfrm>
            <a:off x="4842932" y="6470704"/>
            <a:ext cx="590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sz="11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26" name="Shape 126"/>
          <p:cNvSpPr txBox="1"/>
          <p:nvPr>
            <p:ph idx="12" type="sldNum"/>
          </p:nvPr>
        </p:nvSpPr>
        <p:spPr>
          <a:xfrm>
            <a:off x="10837333" y="6470704"/>
            <a:ext cx="9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100"/>
              <a:buFont typeface="Questrial"/>
              <a:buNone/>
              <a:defRPr b="0" i="0" sz="5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29" name="Shape 129"/>
          <p:cNvSpPr txBox="1"/>
          <p:nvPr>
            <p:ph idx="1" type="body"/>
          </p:nvPr>
        </p:nvSpPr>
        <p:spPr>
          <a:xfrm>
            <a:off x="1024128" y="2179636"/>
            <a:ext cx="4754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Questrial"/>
              <a:buNone/>
              <a:defRPr b="0" i="0" sz="2300" u="none" cap="none" strike="noStrike">
                <a:solidFill>
                  <a:schemeClr val="accen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None/>
              <a:defRPr b="1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0" name="Shape 130"/>
          <p:cNvSpPr txBox="1"/>
          <p:nvPr>
            <p:ph idx="2" type="body"/>
          </p:nvPr>
        </p:nvSpPr>
        <p:spPr>
          <a:xfrm>
            <a:off x="1024128" y="2967788"/>
            <a:ext cx="4754700" cy="3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746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Questrial"/>
              <a:buChar char=" "/>
              <a:defRPr b="0" i="0" sz="2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•"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1" name="Shape 131"/>
          <p:cNvSpPr txBox="1"/>
          <p:nvPr>
            <p:ph idx="3" type="body"/>
          </p:nvPr>
        </p:nvSpPr>
        <p:spPr>
          <a:xfrm>
            <a:off x="5990888" y="2179636"/>
            <a:ext cx="4754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Questrial"/>
              <a:buNone/>
              <a:defRPr b="0" i="0" sz="2300" u="none" cap="none" strike="noStrike">
                <a:solidFill>
                  <a:schemeClr val="accen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None/>
              <a:defRPr b="1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2" name="Shape 132"/>
          <p:cNvSpPr txBox="1"/>
          <p:nvPr>
            <p:ph idx="4" type="body"/>
          </p:nvPr>
        </p:nvSpPr>
        <p:spPr>
          <a:xfrm>
            <a:off x="5990888" y="2967788"/>
            <a:ext cx="4754700" cy="3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746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Questrial"/>
              <a:buChar char=" "/>
              <a:defRPr b="0" i="0" sz="2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•"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3" name="Shape 133"/>
          <p:cNvSpPr txBox="1"/>
          <p:nvPr>
            <p:ph idx="10" type="dt"/>
          </p:nvPr>
        </p:nvSpPr>
        <p:spPr>
          <a:xfrm>
            <a:off x="1024129" y="6470704"/>
            <a:ext cx="215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4" name="Shape 134"/>
          <p:cNvSpPr txBox="1"/>
          <p:nvPr>
            <p:ph idx="11" type="ftr"/>
          </p:nvPr>
        </p:nvSpPr>
        <p:spPr>
          <a:xfrm>
            <a:off x="4842932" y="6470704"/>
            <a:ext cx="590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sz="11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5" name="Shape 135"/>
          <p:cNvSpPr txBox="1"/>
          <p:nvPr>
            <p:ph idx="12" type="sldNum"/>
          </p:nvPr>
        </p:nvSpPr>
        <p:spPr>
          <a:xfrm>
            <a:off x="10837333" y="6470704"/>
            <a:ext cx="9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100"/>
              <a:buFont typeface="Questrial"/>
              <a:buNone/>
              <a:defRPr b="0" i="0" sz="5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38" name="Shape 138"/>
          <p:cNvSpPr txBox="1"/>
          <p:nvPr>
            <p:ph idx="10" type="dt"/>
          </p:nvPr>
        </p:nvSpPr>
        <p:spPr>
          <a:xfrm>
            <a:off x="1024129" y="6470704"/>
            <a:ext cx="215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39" name="Shape 139"/>
          <p:cNvSpPr txBox="1"/>
          <p:nvPr>
            <p:ph idx="11" type="ftr"/>
          </p:nvPr>
        </p:nvSpPr>
        <p:spPr>
          <a:xfrm>
            <a:off x="4842932" y="6470704"/>
            <a:ext cx="590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sz="11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0" name="Shape 140"/>
          <p:cNvSpPr txBox="1"/>
          <p:nvPr>
            <p:ph idx="12" type="sldNum"/>
          </p:nvPr>
        </p:nvSpPr>
        <p:spPr>
          <a:xfrm>
            <a:off x="10837333" y="6470704"/>
            <a:ext cx="9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showMasterSp="0" type="blank">
  <p:cSld name="BLANK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/>
          <p:nvPr>
            <p:ph idx="10" type="dt"/>
          </p:nvPr>
        </p:nvSpPr>
        <p:spPr>
          <a:xfrm>
            <a:off x="1024129" y="6470704"/>
            <a:ext cx="215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3" name="Shape 143"/>
          <p:cNvSpPr txBox="1"/>
          <p:nvPr>
            <p:ph idx="11" type="ftr"/>
          </p:nvPr>
        </p:nvSpPr>
        <p:spPr>
          <a:xfrm>
            <a:off x="4842932" y="6470704"/>
            <a:ext cx="590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sz="11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4" name="Shape 144"/>
          <p:cNvSpPr txBox="1"/>
          <p:nvPr>
            <p:ph idx="12" type="sldNum"/>
          </p:nvPr>
        </p:nvSpPr>
        <p:spPr>
          <a:xfrm>
            <a:off x="10837333" y="6470704"/>
            <a:ext cx="9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/>
          <p:nvPr>
            <p:ph type="title"/>
          </p:nvPr>
        </p:nvSpPr>
        <p:spPr>
          <a:xfrm>
            <a:off x="1024128" y="471509"/>
            <a:ext cx="43893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Questrial"/>
              <a:buNone/>
              <a:defRPr b="0" i="0" sz="4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47" name="Shape 147"/>
          <p:cNvSpPr txBox="1"/>
          <p:nvPr>
            <p:ph idx="1" type="body"/>
          </p:nvPr>
        </p:nvSpPr>
        <p:spPr>
          <a:xfrm>
            <a:off x="5715000" y="822960"/>
            <a:ext cx="5678400" cy="51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810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estrial"/>
              <a:buChar char=" "/>
              <a:defRPr b="0" i="0" sz="2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•"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8" name="Shape 148"/>
          <p:cNvSpPr txBox="1"/>
          <p:nvPr>
            <p:ph idx="2" type="body"/>
          </p:nvPr>
        </p:nvSpPr>
        <p:spPr>
          <a:xfrm>
            <a:off x="1024128" y="2257506"/>
            <a:ext cx="43893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Questrial"/>
              <a:buNone/>
              <a:defRPr b="0" i="0" sz="16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49" name="Shape 149"/>
          <p:cNvSpPr txBox="1"/>
          <p:nvPr>
            <p:ph idx="10" type="dt"/>
          </p:nvPr>
        </p:nvSpPr>
        <p:spPr>
          <a:xfrm>
            <a:off x="1024129" y="6470704"/>
            <a:ext cx="215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0" name="Shape 150"/>
          <p:cNvSpPr txBox="1"/>
          <p:nvPr>
            <p:ph idx="11" type="ftr"/>
          </p:nvPr>
        </p:nvSpPr>
        <p:spPr>
          <a:xfrm>
            <a:off x="4842932" y="6470704"/>
            <a:ext cx="590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sz="11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1" name="Shape 151"/>
          <p:cNvSpPr txBox="1"/>
          <p:nvPr>
            <p:ph idx="12" type="sldNum"/>
          </p:nvPr>
        </p:nvSpPr>
        <p:spPr>
          <a:xfrm>
            <a:off x="10837333" y="6470704"/>
            <a:ext cx="9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/>
          <p:nvPr>
            <p:ph type="title"/>
          </p:nvPr>
        </p:nvSpPr>
        <p:spPr>
          <a:xfrm>
            <a:off x="457200" y="4960138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100"/>
              <a:buFont typeface="Questrial"/>
              <a:buNone/>
              <a:defRPr b="0" i="0" sz="5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54" name="Shape 154"/>
          <p:cNvSpPr/>
          <p:nvPr>
            <p:ph idx="2" type="pic"/>
          </p:nvPr>
        </p:nvSpPr>
        <p:spPr>
          <a:xfrm>
            <a:off x="0" y="-1"/>
            <a:ext cx="12189300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Questrial"/>
              <a:buNone/>
              <a:defRPr b="0" i="0" sz="3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5" name="Shape 155"/>
          <p:cNvSpPr txBox="1"/>
          <p:nvPr>
            <p:ph idx="1" type="body"/>
          </p:nvPr>
        </p:nvSpPr>
        <p:spPr>
          <a:xfrm>
            <a:off x="8610600" y="4960138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Questrial"/>
              <a:buNone/>
              <a:defRPr b="0" i="0" sz="19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6" name="Shape 156"/>
          <p:cNvSpPr txBox="1"/>
          <p:nvPr>
            <p:ph idx="10" type="dt"/>
          </p:nvPr>
        </p:nvSpPr>
        <p:spPr>
          <a:xfrm>
            <a:off x="1024129" y="6470704"/>
            <a:ext cx="215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7" name="Shape 157"/>
          <p:cNvSpPr txBox="1"/>
          <p:nvPr>
            <p:ph idx="11" type="ftr"/>
          </p:nvPr>
        </p:nvSpPr>
        <p:spPr>
          <a:xfrm>
            <a:off x="4842932" y="6470704"/>
            <a:ext cx="590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sz="11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58" name="Shape 158"/>
          <p:cNvSpPr txBox="1"/>
          <p:nvPr>
            <p:ph idx="12" type="sldNum"/>
          </p:nvPr>
        </p:nvSpPr>
        <p:spPr>
          <a:xfrm>
            <a:off x="10837333" y="6470704"/>
            <a:ext cx="9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9" name="Shape 159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100"/>
              <a:buFont typeface="Questrial"/>
              <a:buNone/>
              <a:defRPr b="0" i="0" sz="5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62" name="Shape 162"/>
          <p:cNvSpPr txBox="1"/>
          <p:nvPr>
            <p:ph idx="1" type="body"/>
          </p:nvPr>
        </p:nvSpPr>
        <p:spPr>
          <a:xfrm rot="5400000">
            <a:off x="3872551" y="-562350"/>
            <a:ext cx="4023300" cy="9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746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Questrial"/>
              <a:buChar char=" "/>
              <a:defRPr b="0" i="0" sz="2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•"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3" name="Shape 163"/>
          <p:cNvSpPr txBox="1"/>
          <p:nvPr>
            <p:ph idx="10" type="dt"/>
          </p:nvPr>
        </p:nvSpPr>
        <p:spPr>
          <a:xfrm>
            <a:off x="1024129" y="6470704"/>
            <a:ext cx="215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4" name="Shape 164"/>
          <p:cNvSpPr txBox="1"/>
          <p:nvPr>
            <p:ph idx="11" type="ftr"/>
          </p:nvPr>
        </p:nvSpPr>
        <p:spPr>
          <a:xfrm>
            <a:off x="4842932" y="6470704"/>
            <a:ext cx="590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sz="11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5" name="Shape 165"/>
          <p:cNvSpPr txBox="1"/>
          <p:nvPr>
            <p:ph idx="12" type="sldNum"/>
          </p:nvPr>
        </p:nvSpPr>
        <p:spPr>
          <a:xfrm>
            <a:off x="10837333" y="6470704"/>
            <a:ext cx="9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showMasterSp="0" type="vertTitleAndTx">
  <p:cSld name="VERTICAL_TITLE_AND_VERTICAL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/>
          <p:nvPr>
            <p:ph type="title"/>
          </p:nvPr>
        </p:nvSpPr>
        <p:spPr>
          <a:xfrm rot="5400000">
            <a:off x="7334401" y="2152500"/>
            <a:ext cx="5409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100"/>
              <a:buFont typeface="Questrial"/>
              <a:buNone/>
              <a:defRPr b="0" i="0" sz="5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68" name="Shape 168"/>
          <p:cNvSpPr txBox="1"/>
          <p:nvPr>
            <p:ph idx="1" type="body"/>
          </p:nvPr>
        </p:nvSpPr>
        <p:spPr>
          <a:xfrm rot="5400000">
            <a:off x="2076601" y="-324000"/>
            <a:ext cx="54099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746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Questrial"/>
              <a:buChar char=" "/>
              <a:defRPr b="0" i="0" sz="2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•"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69" name="Shape 169"/>
          <p:cNvSpPr txBox="1"/>
          <p:nvPr>
            <p:ph idx="10" type="dt"/>
          </p:nvPr>
        </p:nvSpPr>
        <p:spPr>
          <a:xfrm>
            <a:off x="1024129" y="6470704"/>
            <a:ext cx="215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0" name="Shape 170"/>
          <p:cNvSpPr txBox="1"/>
          <p:nvPr>
            <p:ph idx="11" type="ftr"/>
          </p:nvPr>
        </p:nvSpPr>
        <p:spPr>
          <a:xfrm>
            <a:off x="4842932" y="6470704"/>
            <a:ext cx="590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sz="1100" cap="non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1" name="Shape 171"/>
          <p:cNvSpPr txBox="1"/>
          <p:nvPr>
            <p:ph idx="12" type="sldNum"/>
          </p:nvPr>
        </p:nvSpPr>
        <p:spPr>
          <a:xfrm>
            <a:off x="10837333" y="6470704"/>
            <a:ext cx="9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sz="1100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2" name="Shape 172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  <a:defRPr b="0" i="0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Char char=" "/>
              <a:defRPr b="0" i="0" sz="2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•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9" name="Shape 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" name="Shape 1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Shape 11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100"/>
              <a:buFont typeface="Questrial"/>
              <a:buNone/>
              <a:defRPr b="0" i="0" sz="5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91" name="Shape 91"/>
          <p:cNvSpPr txBox="1"/>
          <p:nvPr>
            <p:ph idx="1" type="body"/>
          </p:nvPr>
        </p:nvSpPr>
        <p:spPr>
          <a:xfrm>
            <a:off x="1024128" y="2286000"/>
            <a:ext cx="97200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746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Questrial"/>
              <a:buChar char=" "/>
              <a:defRPr b="0" i="0" sz="23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•"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92" name="Shape 92"/>
          <p:cNvSpPr txBox="1"/>
          <p:nvPr>
            <p:ph idx="10" type="dt"/>
          </p:nvPr>
        </p:nvSpPr>
        <p:spPr>
          <a:xfrm>
            <a:off x="1024129" y="6470704"/>
            <a:ext cx="215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93" name="Shape 93"/>
          <p:cNvSpPr txBox="1"/>
          <p:nvPr>
            <p:ph idx="11" type="ftr"/>
          </p:nvPr>
        </p:nvSpPr>
        <p:spPr>
          <a:xfrm>
            <a:off x="4842932" y="6470704"/>
            <a:ext cx="590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94" name="Shape 94"/>
          <p:cNvSpPr txBox="1"/>
          <p:nvPr>
            <p:ph idx="12" type="sldNum"/>
          </p:nvPr>
        </p:nvSpPr>
        <p:spPr>
          <a:xfrm>
            <a:off x="10837333" y="6470704"/>
            <a:ext cx="9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Shape 95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www.ocufy.xyz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</a:pPr>
            <a:r>
              <a:rPr b="0" i="0" lang="en-US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rPr>
              <a:t>OCUFY</a:t>
            </a:r>
            <a:br>
              <a:rPr b="0" i="0" lang="en-US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b="0" i="0" lang="en-US" sz="32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rPr>
              <a:t>A MOBILE EYE TESTING INTERFACE    </a:t>
            </a:r>
            <a:endParaRPr b="0" i="0" sz="3200" u="none" cap="none" strike="noStrike">
              <a:solidFill>
                <a:srgbClr val="0C0C0C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" name="Shape 178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Questrial"/>
              <a:buNone/>
            </a:pPr>
            <a:r>
              <a:rPr b="0" i="0" lang="en-US" sz="153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rPr>
              <a:t>SOHAM MEHTA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Questrial"/>
              <a:buNone/>
            </a:pPr>
            <a:r>
              <a:rPr b="0" i="0" lang="en-US" sz="153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rPr>
              <a:t>RONAK SHUKLA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Questrial"/>
              <a:buNone/>
            </a:pPr>
            <a:r>
              <a:rPr b="0" i="0" lang="en-US" sz="153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rPr>
              <a:t>DR. XIAOJUN BI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Questrial"/>
              <a:buNone/>
            </a:pPr>
            <a:r>
              <a:t/>
            </a:r>
            <a:endParaRPr b="0" i="0" sz="1530" u="none" cap="none" strike="noStrike">
              <a:solidFill>
                <a:srgbClr val="0C0C0C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Questrial"/>
              <a:buNone/>
            </a:pPr>
            <a:r>
              <a:rPr b="0" i="0" lang="en-US" sz="1530" u="none" cap="none" strike="noStrike">
                <a:solidFill>
                  <a:schemeClr val="accent1"/>
                </a:solidFill>
                <a:latin typeface="Questrial"/>
                <a:ea typeface="Questrial"/>
                <a:cs typeface="Questrial"/>
                <a:sym typeface="Questrial"/>
              </a:rPr>
              <a:t>DEPARTMENT OF COMPUTER SCIENCE,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Questrial"/>
              <a:buNone/>
            </a:pPr>
            <a:r>
              <a:rPr b="0" i="0" lang="en-US" sz="1530" u="none" cap="none" strike="noStrike">
                <a:solidFill>
                  <a:schemeClr val="accent1"/>
                </a:solidFill>
                <a:latin typeface="Questrial"/>
                <a:ea typeface="Questrial"/>
                <a:cs typeface="Questrial"/>
                <a:sym typeface="Questrial"/>
              </a:rPr>
              <a:t>STONY BROOK UNIVERSITY</a:t>
            </a:r>
            <a:endParaRPr b="0" i="0" sz="1530" u="none" cap="none" strike="noStrike">
              <a:solidFill>
                <a:schemeClr val="accen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179" name="Shape 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3920" y="701040"/>
            <a:ext cx="29718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</a:pPr>
            <a:r>
              <a:rPr lang="en-US"/>
              <a:t>What is the Problem?</a:t>
            </a:r>
            <a:endParaRPr/>
          </a:p>
        </p:txBody>
      </p:sp>
      <p:sp>
        <p:nvSpPr>
          <p:cNvPr id="185" name="Shape 185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91440" lvl="0" marL="9144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Questrial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Eye-testing is one of the most important </a:t>
            </a:r>
            <a:r>
              <a:rPr b="0" i="0" lang="en-US" sz="3000" u="none" cap="none" strike="noStrike">
                <a:solidFill>
                  <a:srgbClr val="4A86E8"/>
                </a:solidFill>
                <a:latin typeface="Questrial"/>
                <a:ea typeface="Questrial"/>
                <a:cs typeface="Questrial"/>
                <a:sym typeface="Questrial"/>
              </a:rPr>
              <a:t>health check-up</a:t>
            </a:r>
            <a:r>
              <a:rPr b="0" i="0" lang="en-US" sz="3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which is required by all individuals. </a:t>
            </a:r>
            <a:endParaRPr b="0" i="0" sz="30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91440" lvl="0" marL="9144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Questrial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However, it turns out that eye-checking is the </a:t>
            </a:r>
            <a:r>
              <a:rPr b="0" i="0" lang="en-US" sz="3000" u="none" cap="none" strike="noStrike">
                <a:solidFill>
                  <a:srgbClr val="4A86E8"/>
                </a:solidFill>
                <a:latin typeface="Questrial"/>
                <a:ea typeface="Questrial"/>
                <a:cs typeface="Questrial"/>
                <a:sym typeface="Questrial"/>
              </a:rPr>
              <a:t>most neglected</a:t>
            </a:r>
            <a:r>
              <a:rPr b="0" i="0" lang="en-US" sz="3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health check-up of all time.</a:t>
            </a:r>
            <a:endParaRPr b="0" i="0" sz="30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91440" lvl="0" marL="91440" marR="0" rtl="0" algn="just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3000"/>
              <a:buFont typeface="Questrial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It is recommended to check-up eyes every </a:t>
            </a:r>
            <a:r>
              <a:rPr b="0" i="0" lang="en-US" sz="3000" u="none" cap="none" strike="noStrike">
                <a:solidFill>
                  <a:srgbClr val="4A86E8"/>
                </a:solidFill>
                <a:latin typeface="Questrial"/>
                <a:ea typeface="Questrial"/>
                <a:cs typeface="Questrial"/>
                <a:sym typeface="Questrial"/>
              </a:rPr>
              <a:t>six months.</a:t>
            </a:r>
            <a:endParaRPr b="0" i="0" sz="3000" u="none" cap="none" strike="noStrike">
              <a:solidFill>
                <a:srgbClr val="4A86E8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</a:pPr>
            <a:r>
              <a:rPr lang="en-US"/>
              <a:t>Who is Affected?</a:t>
            </a:r>
            <a:endParaRPr b="0" i="0" sz="5000" u="none" cap="none" strike="noStrike">
              <a:solidFill>
                <a:srgbClr val="0C0C0C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1" name="Shape 191"/>
          <p:cNvSpPr txBox="1"/>
          <p:nvPr>
            <p:ph idx="1" type="body"/>
          </p:nvPr>
        </p:nvSpPr>
        <p:spPr>
          <a:xfrm>
            <a:off x="725100" y="2326675"/>
            <a:ext cx="10741800" cy="26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04140" lvl="0" marL="9144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AutoNum type="arabicPeriod"/>
            </a:pPr>
            <a:r>
              <a:rPr b="0" i="0" lang="en-US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b="0" i="0" lang="en-US" u="none" cap="none" strike="noStrike">
                <a:solidFill>
                  <a:srgbClr val="4A86E8"/>
                </a:solidFill>
                <a:latin typeface="Questrial"/>
                <a:ea typeface="Questrial"/>
                <a:cs typeface="Questrial"/>
                <a:sym typeface="Questrial"/>
              </a:rPr>
              <a:t>Old Age </a:t>
            </a:r>
            <a:r>
              <a:rPr lang="en-US">
                <a:solidFill>
                  <a:srgbClr val="4A86E8"/>
                </a:solidFill>
              </a:rPr>
              <a:t>People</a:t>
            </a:r>
            <a:r>
              <a:rPr lang="en-US"/>
              <a:t> : </a:t>
            </a:r>
            <a:r>
              <a:rPr b="0" i="0" lang="en-US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81% of all vision </a:t>
            </a:r>
            <a:r>
              <a:rPr lang="en-US"/>
              <a:t>impaired</a:t>
            </a:r>
            <a:r>
              <a:rPr lang="en-US"/>
              <a:t> </a:t>
            </a:r>
            <a:r>
              <a:rPr lang="en-US"/>
              <a:t>people</a:t>
            </a:r>
            <a:r>
              <a:rPr b="0" i="0" lang="en-US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are aged </a:t>
            </a:r>
            <a:r>
              <a:rPr b="0" i="0" lang="en-US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50 years and above</a:t>
            </a:r>
            <a:endParaRPr>
              <a:solidFill>
                <a:srgbClr val="000000"/>
              </a:solidFill>
            </a:endParaRPr>
          </a:p>
          <a:p>
            <a:pPr indent="-10414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AutoNum type="arabicPeriod"/>
            </a:pPr>
            <a:r>
              <a:rPr b="0" i="0" lang="en-US" u="none" cap="none" strike="noStrike">
                <a:solidFill>
                  <a:srgbClr val="4A86E8"/>
                </a:solidFill>
                <a:latin typeface="Questrial"/>
                <a:ea typeface="Questrial"/>
                <a:cs typeface="Questrial"/>
                <a:sym typeface="Questrial"/>
              </a:rPr>
              <a:t> Children </a:t>
            </a:r>
            <a:r>
              <a:rPr lang="en-US">
                <a:solidFill>
                  <a:srgbClr val="4A86E8"/>
                </a:solidFill>
              </a:rPr>
              <a:t>:</a:t>
            </a:r>
            <a:r>
              <a:rPr b="0" i="0" lang="en-US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An estimated 19 million</a:t>
            </a:r>
            <a:r>
              <a:rPr lang="en-US"/>
              <a:t> children</a:t>
            </a:r>
            <a:r>
              <a:rPr b="0" i="0" lang="en-US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are vision impaired</a:t>
            </a:r>
            <a:endParaRPr/>
          </a:p>
          <a:p>
            <a:pPr indent="-10414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AutoNum type="arabicPeriod"/>
            </a:pPr>
            <a:r>
              <a:rPr lang="en-US">
                <a:solidFill>
                  <a:srgbClr val="4A86E8"/>
                </a:solidFill>
              </a:rPr>
              <a:t>Rural People :</a:t>
            </a:r>
            <a:r>
              <a:rPr lang="en-US"/>
              <a:t> 	Developing &amp; Underdeveloped </a:t>
            </a:r>
            <a:r>
              <a:rPr b="0" i="0" lang="en-US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countries have most affected people.</a:t>
            </a:r>
            <a:endParaRPr b="0" i="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104140" lvl="0" marL="91440" marR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AutoNum type="arabicPeriod"/>
            </a:pPr>
            <a:r>
              <a:rPr lang="en-US">
                <a:solidFill>
                  <a:srgbClr val="4A86E8"/>
                </a:solidFill>
              </a:rPr>
              <a:t>Women</a:t>
            </a:r>
            <a:r>
              <a:rPr lang="en-US"/>
              <a:t> : 2/3rd of blind people are women</a:t>
            </a:r>
            <a:endParaRPr/>
          </a:p>
          <a:p>
            <a:pPr indent="9906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Quest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2" name="Shape 192"/>
          <p:cNvSpPr txBox="1"/>
          <p:nvPr/>
        </p:nvSpPr>
        <p:spPr>
          <a:xfrm>
            <a:off x="2817550" y="6447800"/>
            <a:ext cx="922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5A5A5"/>
                </a:solidFill>
                <a:latin typeface="Questrial"/>
                <a:ea typeface="Questrial"/>
                <a:cs typeface="Questrial"/>
                <a:sym typeface="Questrial"/>
              </a:rPr>
              <a:t>Source : https://www.light-for-the-world.org/two-thirds-blind-people-are-women</a:t>
            </a:r>
            <a:endParaRPr/>
          </a:p>
        </p:txBody>
      </p:sp>
      <p:sp>
        <p:nvSpPr>
          <p:cNvPr id="193" name="Shape 193"/>
          <p:cNvSpPr txBox="1"/>
          <p:nvPr/>
        </p:nvSpPr>
        <p:spPr>
          <a:xfrm>
            <a:off x="946576" y="5134525"/>
            <a:ext cx="10435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Questrial"/>
                <a:ea typeface="Questrial"/>
                <a:cs typeface="Questrial"/>
                <a:sym typeface="Questrial"/>
              </a:rPr>
              <a:t>80% OF ALL VISION IMPAIRMENT CAN BE PREVENTED OR CURED.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4A86E8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pain do we relieve ?</a:t>
            </a:r>
            <a:endParaRPr/>
          </a:p>
        </p:txBody>
      </p:sp>
      <p:sp>
        <p:nvSpPr>
          <p:cNvPr id="199" name="Shape 199"/>
          <p:cNvSpPr txBox="1"/>
          <p:nvPr>
            <p:ph idx="1" type="body"/>
          </p:nvPr>
        </p:nvSpPr>
        <p:spPr>
          <a:xfrm>
            <a:off x="761325" y="1960625"/>
            <a:ext cx="97200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just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-US"/>
              <a:t>With advances in technology, the human eye is getting more and more </a:t>
            </a:r>
            <a:r>
              <a:rPr lang="en-US">
                <a:solidFill>
                  <a:srgbClr val="4A86E8"/>
                </a:solidFill>
              </a:rPr>
              <a:t>hitched to the digital screen</a:t>
            </a:r>
            <a:r>
              <a:rPr lang="en-US"/>
              <a:t> making it prone to blurred vision.</a:t>
            </a:r>
            <a:endParaRPr/>
          </a:p>
          <a:p>
            <a:pPr indent="-361950" lvl="0" marL="457200" rtl="0" algn="just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-US"/>
              <a:t>A study published in the journal Ophthalmology found that on current trends </a:t>
            </a:r>
            <a:r>
              <a:rPr lang="en-US">
                <a:solidFill>
                  <a:srgbClr val="4A86E8"/>
                </a:solidFill>
              </a:rPr>
              <a:t>50 percent of people</a:t>
            </a:r>
            <a:r>
              <a:rPr lang="en-US"/>
              <a:t> on the planet would need glasses or contact lenses with 10 per cent suffering from severe myopia</a:t>
            </a:r>
            <a:endParaRPr/>
          </a:p>
          <a:p>
            <a:pPr indent="-361950" lvl="0" marL="457200" rtl="0" algn="just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-US"/>
              <a:t>Our application relieves the pain of the user who has </a:t>
            </a:r>
            <a:r>
              <a:rPr lang="en-US">
                <a:solidFill>
                  <a:srgbClr val="4A86E8"/>
                </a:solidFill>
              </a:rPr>
              <a:t>no access</a:t>
            </a:r>
            <a:r>
              <a:rPr lang="en-US"/>
              <a:t> to an eye clinic </a:t>
            </a:r>
            <a:endParaRPr/>
          </a:p>
          <a:p>
            <a:pPr indent="-361950" lvl="0" marL="457200" rtl="0" algn="just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-US"/>
              <a:t>Also it is for the user who does </a:t>
            </a:r>
            <a:r>
              <a:rPr lang="en-US">
                <a:solidFill>
                  <a:srgbClr val="4A86E8"/>
                </a:solidFill>
              </a:rPr>
              <a:t>not anticipate the need</a:t>
            </a:r>
            <a:r>
              <a:rPr lang="en-US"/>
              <a:t> for checking their eye until their vision is affected</a:t>
            </a:r>
            <a:endParaRPr sz="1700">
              <a:solidFill>
                <a:srgbClr val="45454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4A86E8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>
              <a:spcBef>
                <a:spcPts val="1200"/>
              </a:spcBef>
              <a:spcAft>
                <a:spcPts val="300"/>
              </a:spcAft>
              <a:buNone/>
            </a:pPr>
            <a:r>
              <a:t/>
            </a:r>
            <a:endParaRPr sz="1700">
              <a:solidFill>
                <a:srgbClr val="45454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Shape 200"/>
          <p:cNvSpPr txBox="1"/>
          <p:nvPr/>
        </p:nvSpPr>
        <p:spPr>
          <a:xfrm>
            <a:off x="4355075" y="6534600"/>
            <a:ext cx="10743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t/>
            </a:r>
            <a:endParaRPr b="1" sz="1700">
              <a:solidFill>
                <a:srgbClr val="454545"/>
              </a:solidFill>
              <a:highlight>
                <a:srgbClr val="FFFFFF"/>
              </a:highlight>
            </a:endParaRPr>
          </a:p>
        </p:txBody>
      </p:sp>
      <p:pic>
        <p:nvPicPr>
          <p:cNvPr id="201" name="Shape 201"/>
          <p:cNvPicPr preferRelativeResize="0"/>
          <p:nvPr/>
        </p:nvPicPr>
        <p:blipFill rotWithShape="1">
          <a:blip r:embed="rId3">
            <a:alphaModFix amt="44000"/>
          </a:blip>
          <a:srcRect b="36227" l="22921" r="15773" t="50105"/>
          <a:stretch/>
        </p:blipFill>
        <p:spPr>
          <a:xfrm>
            <a:off x="10511200" y="6381632"/>
            <a:ext cx="1402100" cy="31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Shape 2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45200" y="6292333"/>
            <a:ext cx="491133" cy="491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</a:pPr>
            <a:r>
              <a:rPr lang="en-US"/>
              <a:t>Reasons for the Problem?</a:t>
            </a:r>
            <a:r>
              <a:rPr lang="en-US"/>
              <a:t> </a:t>
            </a:r>
            <a:endParaRPr b="0" i="0" sz="5000" u="none" cap="none" strike="noStrike">
              <a:solidFill>
                <a:srgbClr val="0C0C0C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8" name="Shape 208"/>
          <p:cNvSpPr txBox="1"/>
          <p:nvPr>
            <p:ph idx="1" type="body"/>
          </p:nvPr>
        </p:nvSpPr>
        <p:spPr>
          <a:xfrm>
            <a:off x="896925" y="2168600"/>
            <a:ext cx="10539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59689" lvl="0" marL="9144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Noto Sans Symbols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There aren’t man</a:t>
            </a:r>
            <a:r>
              <a:rPr lang="en-US" sz="2500"/>
              <a:t>y </a:t>
            </a: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eye clinics available in the </a:t>
            </a:r>
            <a:r>
              <a:rPr b="0" i="0" lang="en-US" sz="2500" u="none" cap="none" strike="noStrike">
                <a:solidFill>
                  <a:srgbClr val="4A86E8"/>
                </a:solidFill>
                <a:latin typeface="Questrial"/>
                <a:ea typeface="Questrial"/>
                <a:cs typeface="Questrial"/>
                <a:sym typeface="Questrial"/>
              </a:rPr>
              <a:t>rural </a:t>
            </a:r>
            <a:r>
              <a:rPr lang="en-US" sz="2500">
                <a:solidFill>
                  <a:srgbClr val="4A86E8"/>
                </a:solidFill>
              </a:rPr>
              <a:t>areas.</a:t>
            </a: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 </a:t>
            </a:r>
            <a:endParaRPr sz="2500"/>
          </a:p>
          <a:p>
            <a:pPr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59689" lvl="0" marL="91440" marR="0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Noto Sans Symbols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eople do not </a:t>
            </a:r>
            <a:r>
              <a:rPr b="0" i="0" lang="en-US" sz="2500" u="none" cap="none" strike="noStrike">
                <a:solidFill>
                  <a:srgbClr val="4A86E8"/>
                </a:solidFill>
                <a:latin typeface="Questrial"/>
                <a:ea typeface="Questrial"/>
                <a:cs typeface="Questrial"/>
                <a:sym typeface="Questrial"/>
              </a:rPr>
              <a:t>anticipate the need</a:t>
            </a: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for checking their eye until their vision         </a:t>
            </a:r>
            <a:r>
              <a:rPr lang="en-US" sz="2500"/>
              <a:t>	</a:t>
            </a: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is affected</a:t>
            </a:r>
            <a:endParaRPr sz="2500"/>
          </a:p>
          <a:p>
            <a:pPr indent="0" lvl="0" marL="0" marR="0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59689" lvl="0" marL="91440" marR="0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Noto Sans Symbols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It is </a:t>
            </a:r>
            <a:r>
              <a:rPr b="0" i="0" lang="en-US" sz="2500" u="none" cap="none" strike="noStrike">
                <a:solidFill>
                  <a:srgbClr val="4A86E8"/>
                </a:solidFill>
                <a:latin typeface="Questrial"/>
                <a:ea typeface="Questrial"/>
                <a:cs typeface="Questrial"/>
                <a:sym typeface="Questrial"/>
              </a:rPr>
              <a:t>too time consuming</a:t>
            </a: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to go to book an appointment and visit the   </a:t>
            </a:r>
            <a:r>
              <a:rPr lang="en-US" sz="2500"/>
              <a:t> 	</a:t>
            </a: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doctor</a:t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there any Existing Systems?</a:t>
            </a:r>
            <a:endParaRPr/>
          </a:p>
        </p:txBody>
      </p:sp>
      <p:sp>
        <p:nvSpPr>
          <p:cNvPr id="214" name="Shape 214"/>
          <p:cNvSpPr txBox="1"/>
          <p:nvPr>
            <p:ph idx="1" type="body"/>
          </p:nvPr>
        </p:nvSpPr>
        <p:spPr>
          <a:xfrm>
            <a:off x="1024128" y="2286000"/>
            <a:ext cx="97200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Being one of the most affecting problem on earth, there are lot of </a:t>
            </a:r>
            <a:r>
              <a:rPr lang="en-US" sz="2500">
                <a:solidFill>
                  <a:srgbClr val="4A86E8"/>
                </a:solidFill>
              </a:rPr>
              <a:t>software solutions</a:t>
            </a:r>
            <a:r>
              <a:rPr lang="en-US" sz="2500"/>
              <a:t> available.</a:t>
            </a:r>
            <a:endParaRPr sz="2500"/>
          </a:p>
          <a:p>
            <a:pPr indent="0" lvl="0" marL="0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They are available for both </a:t>
            </a:r>
            <a:r>
              <a:rPr lang="en-US" sz="2500">
                <a:solidFill>
                  <a:srgbClr val="4A86E8"/>
                </a:solidFill>
              </a:rPr>
              <a:t>professional or personal</a:t>
            </a:r>
            <a:r>
              <a:rPr lang="en-US" sz="2500"/>
              <a:t> use</a:t>
            </a:r>
            <a:endParaRPr sz="2500"/>
          </a:p>
          <a:p>
            <a:pPr indent="0" lvl="0" marL="0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But these solutions are faced </a:t>
            </a:r>
            <a:r>
              <a:rPr lang="en-US" sz="2500">
                <a:solidFill>
                  <a:srgbClr val="4A86E8"/>
                </a:solidFill>
              </a:rPr>
              <a:t>2</a:t>
            </a:r>
            <a:r>
              <a:rPr lang="en-US" sz="2500">
                <a:solidFill>
                  <a:srgbClr val="4A86E8"/>
                </a:solidFill>
              </a:rPr>
              <a:t> Major Problems</a:t>
            </a:r>
            <a:endParaRPr sz="25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1 : Too Expensive</a:t>
            </a:r>
            <a:endParaRPr/>
          </a:p>
        </p:txBody>
      </p:sp>
      <p:sp>
        <p:nvSpPr>
          <p:cNvPr id="220" name="Shape 220"/>
          <p:cNvSpPr txBox="1"/>
          <p:nvPr>
            <p:ph idx="1" type="body"/>
          </p:nvPr>
        </p:nvSpPr>
        <p:spPr>
          <a:xfrm>
            <a:off x="720850" y="1689225"/>
            <a:ext cx="109797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There are few</a:t>
            </a:r>
            <a:r>
              <a:rPr lang="en-US">
                <a:solidFill>
                  <a:srgbClr val="4A86E8"/>
                </a:solidFill>
              </a:rPr>
              <a:t> </a:t>
            </a:r>
            <a:r>
              <a:rPr lang="en-US">
                <a:solidFill>
                  <a:srgbClr val="000000"/>
                </a:solidFill>
              </a:rPr>
              <a:t>start of the art</a:t>
            </a:r>
            <a:r>
              <a:rPr lang="en-US"/>
              <a:t> software solutions available by professional companies. </a:t>
            </a:r>
            <a:endParaRPr/>
          </a:p>
          <a:p>
            <a:pPr indent="0" lvl="0" mar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</a:t>
            </a:r>
            <a:r>
              <a:rPr lang="en-US">
                <a:solidFill>
                  <a:srgbClr val="4A86E8"/>
                </a:solidFill>
              </a:rPr>
              <a:t>20/20 Vision (Canela Software)</a:t>
            </a:r>
            <a:r>
              <a:rPr lang="en-US"/>
              <a:t>                                  </a:t>
            </a:r>
            <a:r>
              <a:rPr lang="en-US"/>
              <a:t>• </a:t>
            </a:r>
            <a:r>
              <a:rPr lang="en-US">
                <a:solidFill>
                  <a:srgbClr val="4A86E8"/>
                </a:solidFill>
              </a:rPr>
              <a:t>PVVATTM (Precision Vision)</a:t>
            </a:r>
            <a:br>
              <a:rPr lang="en-US">
                <a:solidFill>
                  <a:srgbClr val="4A86E8"/>
                </a:solidFill>
              </a:rPr>
            </a:br>
            <a:endParaRPr>
              <a:solidFill>
                <a:srgbClr val="4A86E8"/>
              </a:solidFill>
            </a:endParaRPr>
          </a:p>
          <a:p>
            <a:pPr indent="0" lvl="0" marL="0">
              <a:spcBef>
                <a:spcPts val="1200"/>
              </a:spcBef>
              <a:spcAft>
                <a:spcPts val="20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21" name="Shape 221"/>
          <p:cNvPicPr preferRelativeResize="0"/>
          <p:nvPr/>
        </p:nvPicPr>
        <p:blipFill rotWithShape="1">
          <a:blip r:embed="rId3">
            <a:alphaModFix/>
          </a:blip>
          <a:srcRect b="0" l="26280" r="0" t="13479"/>
          <a:stretch/>
        </p:blipFill>
        <p:spPr>
          <a:xfrm>
            <a:off x="6887400" y="2970400"/>
            <a:ext cx="3502376" cy="36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Shape 222"/>
          <p:cNvPicPr preferRelativeResize="0"/>
          <p:nvPr/>
        </p:nvPicPr>
        <p:blipFill rotWithShape="1">
          <a:blip r:embed="rId4">
            <a:alphaModFix/>
          </a:blip>
          <a:srcRect b="1610" l="0" r="42263" t="-1610"/>
          <a:stretch/>
        </p:blipFill>
        <p:spPr>
          <a:xfrm>
            <a:off x="1320725" y="2927550"/>
            <a:ext cx="3502376" cy="37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Shape 223"/>
          <p:cNvSpPr/>
          <p:nvPr/>
        </p:nvSpPr>
        <p:spPr>
          <a:xfrm>
            <a:off x="1340300" y="3013225"/>
            <a:ext cx="3482700" cy="3624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Shape 224"/>
          <p:cNvSpPr/>
          <p:nvPr/>
        </p:nvSpPr>
        <p:spPr>
          <a:xfrm>
            <a:off x="6897238" y="2970400"/>
            <a:ext cx="3482700" cy="3624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2 : Incorrect Results</a:t>
            </a:r>
            <a:endParaRPr/>
          </a:p>
        </p:txBody>
      </p:sp>
      <p:sp>
        <p:nvSpPr>
          <p:cNvPr id="230" name="Shape 230"/>
          <p:cNvSpPr txBox="1"/>
          <p:nvPr>
            <p:ph idx="1" type="body"/>
          </p:nvPr>
        </p:nvSpPr>
        <p:spPr>
          <a:xfrm>
            <a:off x="1024125" y="2286000"/>
            <a:ext cx="1020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Due to rise in number of </a:t>
            </a:r>
            <a:r>
              <a:rPr lang="en-US">
                <a:solidFill>
                  <a:srgbClr val="4A86E8"/>
                </a:solidFill>
              </a:rPr>
              <a:t>mobile phones</a:t>
            </a:r>
            <a:r>
              <a:rPr lang="en-US"/>
              <a:t>, number of free applications are available in the Playstore.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Apps like </a:t>
            </a:r>
            <a:r>
              <a:rPr lang="en-US"/>
              <a:t>“Eye Test- Eye Exam”,”iCare Eye Test-Eye Care” offer basic eye test by showing characters on screen and </a:t>
            </a:r>
            <a:r>
              <a:rPr lang="en-US">
                <a:solidFill>
                  <a:srgbClr val="4A86E8"/>
                </a:solidFill>
              </a:rPr>
              <a:t>taking users response</a:t>
            </a:r>
            <a:r>
              <a:rPr lang="en-US"/>
              <a:t>.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However, these apps easily provide incorrect results if the user is holding the </a:t>
            </a:r>
            <a:r>
              <a:rPr lang="en-US">
                <a:solidFill>
                  <a:srgbClr val="4A86E8"/>
                </a:solidFill>
              </a:rPr>
              <a:t>phone at wrong distance </a:t>
            </a:r>
            <a:endParaRPr>
              <a:solidFill>
                <a:srgbClr val="4A86E8"/>
              </a:solidFill>
            </a:endParaRPr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Since these existing apps have no metric to maintain this distance invariant, they show test of incorrect size making the application just a </a:t>
            </a:r>
            <a:r>
              <a:rPr lang="en-US">
                <a:solidFill>
                  <a:srgbClr val="4A86E8"/>
                </a:solidFill>
              </a:rPr>
              <a:t>“gimmick”</a:t>
            </a:r>
            <a:r>
              <a:rPr lang="en-US"/>
              <a:t>!</a:t>
            </a:r>
            <a:endParaRPr/>
          </a:p>
          <a:p>
            <a:pPr indent="0" lvl="0" marL="0" rtl="0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Problem 2 : Incorrect Results (Example)</a:t>
            </a:r>
            <a:endParaRPr sz="4000"/>
          </a:p>
        </p:txBody>
      </p:sp>
      <p:pic>
        <p:nvPicPr>
          <p:cNvPr id="236" name="Shape 2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1055" y="1777275"/>
            <a:ext cx="2403151" cy="411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Shape 2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6730" y="1875100"/>
            <a:ext cx="2403151" cy="411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Shape 238"/>
          <p:cNvSpPr txBox="1"/>
          <p:nvPr/>
        </p:nvSpPr>
        <p:spPr>
          <a:xfrm>
            <a:off x="2289300" y="6163400"/>
            <a:ext cx="20349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EyeTest (Health4Mob)</a:t>
            </a:r>
            <a:endParaRPr/>
          </a:p>
        </p:txBody>
      </p:sp>
      <p:sp>
        <p:nvSpPr>
          <p:cNvPr id="239" name="Shape 239"/>
          <p:cNvSpPr txBox="1"/>
          <p:nvPr/>
        </p:nvSpPr>
        <p:spPr>
          <a:xfrm>
            <a:off x="7640700" y="6163400"/>
            <a:ext cx="22011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OcuFy</a:t>
            </a:r>
            <a:endParaRPr/>
          </a:p>
        </p:txBody>
      </p:sp>
      <p:sp>
        <p:nvSpPr>
          <p:cNvPr id="240" name="Shape 240"/>
          <p:cNvSpPr/>
          <p:nvPr/>
        </p:nvSpPr>
        <p:spPr>
          <a:xfrm>
            <a:off x="2025125" y="1780525"/>
            <a:ext cx="2403300" cy="41187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did we do?</a:t>
            </a:r>
            <a:endParaRPr/>
          </a:p>
        </p:txBody>
      </p:sp>
      <p:sp>
        <p:nvSpPr>
          <p:cNvPr id="246" name="Shape 246"/>
          <p:cNvSpPr txBox="1"/>
          <p:nvPr>
            <p:ph idx="1" type="body"/>
          </p:nvPr>
        </p:nvSpPr>
        <p:spPr>
          <a:xfrm>
            <a:off x="1024128" y="1865800"/>
            <a:ext cx="97200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</a:t>
            </a:r>
            <a:endParaRPr sz="3000"/>
          </a:p>
          <a:p>
            <a:pPr indent="-419100" lvl="0" marL="457200" rtl="0" algn="just">
              <a:spcBef>
                <a:spcPts val="120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Ocufy is a </a:t>
            </a:r>
            <a:r>
              <a:rPr lang="en-US" sz="3000">
                <a:solidFill>
                  <a:srgbClr val="4A86E8"/>
                </a:solidFill>
              </a:rPr>
              <a:t>Mobile Eye Testing Interface</a:t>
            </a:r>
            <a:r>
              <a:rPr lang="en-US" sz="3000"/>
              <a:t> which you can use to find your eye acuity in under just 5 minutes.</a:t>
            </a:r>
            <a:endParaRPr sz="30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just">
              <a:spcBef>
                <a:spcPts val="120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It is </a:t>
            </a:r>
            <a:r>
              <a:rPr lang="en-US" sz="3000">
                <a:solidFill>
                  <a:srgbClr val="4A86E8"/>
                </a:solidFill>
              </a:rPr>
              <a:t>free to use</a:t>
            </a:r>
            <a:r>
              <a:rPr lang="en-US" sz="3000"/>
              <a:t> and will provide the </a:t>
            </a:r>
            <a:r>
              <a:rPr lang="en-US" sz="3000">
                <a:solidFill>
                  <a:srgbClr val="4A86E8"/>
                </a:solidFill>
              </a:rPr>
              <a:t>most accurate results</a:t>
            </a:r>
            <a:r>
              <a:rPr lang="en-US" sz="3000"/>
              <a:t> than any other eye testing mobile application ever built!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are we unique?</a:t>
            </a:r>
            <a:endParaRPr/>
          </a:p>
        </p:txBody>
      </p:sp>
      <p:sp>
        <p:nvSpPr>
          <p:cNvPr id="252" name="Shape 252"/>
          <p:cNvSpPr txBox="1"/>
          <p:nvPr>
            <p:ph idx="1" type="body"/>
          </p:nvPr>
        </p:nvSpPr>
        <p:spPr>
          <a:xfrm>
            <a:off x="1024126" y="2286000"/>
            <a:ext cx="49728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We have used</a:t>
            </a:r>
            <a:r>
              <a:rPr lang="en-US">
                <a:solidFill>
                  <a:srgbClr val="4A86E8"/>
                </a:solidFill>
              </a:rPr>
              <a:t> </a:t>
            </a:r>
            <a:r>
              <a:rPr lang="en-US">
                <a:solidFill>
                  <a:srgbClr val="4A86E8"/>
                </a:solidFill>
              </a:rPr>
              <a:t>Android Face Detection</a:t>
            </a:r>
            <a:r>
              <a:rPr lang="en-US"/>
              <a:t> libraries to find the recognize eyes from face and then find the distance between them</a:t>
            </a:r>
            <a:br>
              <a:rPr lang="en-US"/>
            </a:br>
            <a:endParaRPr/>
          </a:p>
          <a:p>
            <a: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With the help of this, we have </a:t>
            </a:r>
            <a:r>
              <a:rPr lang="en-US"/>
              <a:t>devised</a:t>
            </a:r>
            <a:r>
              <a:rPr lang="en-US"/>
              <a:t> a method to identify the </a:t>
            </a:r>
            <a:r>
              <a:rPr lang="en-US">
                <a:solidFill>
                  <a:srgbClr val="4A86E8"/>
                </a:solidFill>
              </a:rPr>
              <a:t>distance of the phone from the face</a:t>
            </a:r>
            <a:r>
              <a:rPr lang="en-US"/>
              <a:t> with respect to the eye distance measured.</a:t>
            </a:r>
            <a:endParaRPr/>
          </a:p>
        </p:txBody>
      </p:sp>
      <p:pic>
        <p:nvPicPr>
          <p:cNvPr id="253" name="Shape 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3975" y="2203175"/>
            <a:ext cx="5094225" cy="34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are we unique? (2)</a:t>
            </a:r>
            <a:endParaRPr/>
          </a:p>
        </p:txBody>
      </p:sp>
      <p:sp>
        <p:nvSpPr>
          <p:cNvPr id="259" name="Shape 259"/>
          <p:cNvSpPr txBox="1"/>
          <p:nvPr>
            <p:ph idx="1" type="body"/>
          </p:nvPr>
        </p:nvSpPr>
        <p:spPr>
          <a:xfrm>
            <a:off x="1024125" y="2286000"/>
            <a:ext cx="101481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This </a:t>
            </a:r>
            <a:r>
              <a:rPr lang="en-US">
                <a:solidFill>
                  <a:srgbClr val="4A86E8"/>
                </a:solidFill>
              </a:rPr>
              <a:t>phone-to-face distance</a:t>
            </a:r>
            <a:r>
              <a:rPr lang="en-US"/>
              <a:t> is then used to make sure that the user is holding the phone at a certain distance after only which the test will start</a:t>
            </a:r>
            <a:endParaRPr/>
          </a:p>
          <a:p>
            <a:pPr indent="0" lvl="0" marL="0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The test is devised in accordance to the distance to the phone so as to provide the </a:t>
            </a:r>
            <a:r>
              <a:rPr lang="en-US">
                <a:solidFill>
                  <a:srgbClr val="4A86E8"/>
                </a:solidFill>
              </a:rPr>
              <a:t>most accurate results.</a:t>
            </a:r>
            <a:endParaRPr>
              <a:solidFill>
                <a:srgbClr val="4A86E8"/>
              </a:solidFill>
            </a:endParaRPr>
          </a:p>
          <a:p>
            <a:pPr indent="0" lvl="0" marL="0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Also the alphabet in the test are not usual characters but are special characters called </a:t>
            </a:r>
            <a:r>
              <a:rPr lang="en-US">
                <a:solidFill>
                  <a:srgbClr val="4A86E8"/>
                </a:solidFill>
              </a:rPr>
              <a:t>“Optotypes”</a:t>
            </a:r>
            <a:r>
              <a:rPr lang="en-US"/>
              <a:t> which are scaled according to Snellen factor!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 txBox="1"/>
          <p:nvPr/>
        </p:nvSpPr>
        <p:spPr>
          <a:xfrm>
            <a:off x="1789600" y="2458050"/>
            <a:ext cx="13180800" cy="19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-US" sz="7500">
                <a:solidFill>
                  <a:srgbClr val="4A86E8"/>
                </a:solidFill>
                <a:highlight>
                  <a:srgbClr val="FFFFFF"/>
                </a:highlight>
                <a:latin typeface="Amatic SC"/>
                <a:ea typeface="Amatic SC"/>
                <a:cs typeface="Amatic SC"/>
                <a:sym typeface="Amatic SC"/>
              </a:rPr>
              <a:t>WORKING OF THE APPLICATION</a:t>
            </a:r>
            <a:endParaRPr b="1" sz="7500">
              <a:solidFill>
                <a:srgbClr val="4A86E8"/>
              </a:solidFill>
              <a:highlight>
                <a:srgbClr val="FFFFFF"/>
              </a:highlight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65" name="Shape 265"/>
          <p:cNvSpPr txBox="1"/>
          <p:nvPr/>
        </p:nvSpPr>
        <p:spPr>
          <a:xfrm>
            <a:off x="3140400" y="4167625"/>
            <a:ext cx="5165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Amatic SC"/>
                <a:ea typeface="Amatic SC"/>
                <a:cs typeface="Amatic SC"/>
                <a:sym typeface="Amatic SC"/>
              </a:rPr>
              <a:t>(TECHNICAL CORE)</a:t>
            </a:r>
            <a:endParaRPr sz="2000">
              <a:solidFill>
                <a:schemeClr val="accent2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266" name="Shape 266"/>
          <p:cNvPicPr preferRelativeResize="0"/>
          <p:nvPr/>
        </p:nvPicPr>
        <p:blipFill rotWithShape="1">
          <a:blip r:embed="rId3">
            <a:alphaModFix amt="44000"/>
          </a:blip>
          <a:srcRect b="36227" l="22921" r="15773" t="50105"/>
          <a:stretch/>
        </p:blipFill>
        <p:spPr>
          <a:xfrm>
            <a:off x="10779225" y="6351549"/>
            <a:ext cx="1051575" cy="23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Shape 2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5150" y="6284575"/>
            <a:ext cx="368350" cy="36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</a:pPr>
            <a:r>
              <a:rPr lang="en-US" sz="4000"/>
              <a:t>How does Traditional Eye test work?</a:t>
            </a:r>
            <a:endParaRPr b="0" i="0" sz="4000" u="none" cap="none" strike="noStrike">
              <a:solidFill>
                <a:srgbClr val="0C0C0C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273" name="Shape 27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2675" y="1731625"/>
            <a:ext cx="3256800" cy="46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Shape 274"/>
          <p:cNvSpPr txBox="1"/>
          <p:nvPr/>
        </p:nvSpPr>
        <p:spPr>
          <a:xfrm>
            <a:off x="802900" y="2084812"/>
            <a:ext cx="5493900" cy="43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Questrial"/>
              <a:buChar char="•"/>
            </a:pPr>
            <a:r>
              <a:rPr lang="en-US" sz="17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A Snellen chart is an eye chart that can be used to measure visual acuity</a:t>
            </a:r>
            <a:endParaRPr sz="1700">
              <a:latin typeface="Questrial"/>
              <a:ea typeface="Questrial"/>
              <a:cs typeface="Questrial"/>
              <a:sym typeface="Questrial"/>
            </a:endParaRPr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27940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Questrial"/>
              <a:buChar char="•"/>
            </a:pPr>
            <a:r>
              <a:rPr lang="en-US" sz="17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Only the ten letters C, D, E, F, L, N, O, P, T, Z are used in the common Snellen chart.</a:t>
            </a:r>
            <a:endParaRPr sz="17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27940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Questrial"/>
              <a:buChar char="•"/>
            </a:pPr>
            <a:r>
              <a:rPr lang="en-US" sz="17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A person taking the test covers one eye from 6 meters or 20 feet away, and reads aloud the letters of each row, beginning at the top.</a:t>
            </a:r>
            <a:endParaRPr sz="17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158750" lvl="0" marL="28575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27940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Questrial"/>
              <a:buChar char="•"/>
            </a:pPr>
            <a:r>
              <a:rPr lang="en-US" sz="17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The smallest row that can be read accurately indicates the visual acuity in that specific eye</a:t>
            </a:r>
            <a:endParaRPr sz="17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75" name="Shape 275"/>
          <p:cNvSpPr txBox="1"/>
          <p:nvPr/>
        </p:nvSpPr>
        <p:spPr>
          <a:xfrm>
            <a:off x="5909047" y="6488700"/>
            <a:ext cx="70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5A5A5"/>
                </a:solidFill>
                <a:latin typeface="Questrial"/>
                <a:ea typeface="Questrial"/>
                <a:cs typeface="Questrial"/>
                <a:sym typeface="Questrial"/>
              </a:rPr>
              <a:t>Source: https://en.wikipedia.org/wiki/Snellen_chart</a:t>
            </a:r>
            <a:endParaRPr sz="1800">
              <a:solidFill>
                <a:srgbClr val="A5A5A5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 txBox="1"/>
          <p:nvPr/>
        </p:nvSpPr>
        <p:spPr>
          <a:xfrm>
            <a:off x="1892304" y="4915701"/>
            <a:ext cx="3925200" cy="498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Questrial"/>
                <a:ea typeface="Questrial"/>
                <a:cs typeface="Questrial"/>
                <a:sym typeface="Questrial"/>
              </a:rPr>
              <a:t> </a:t>
            </a:r>
            <a:endParaRPr/>
          </a:p>
        </p:txBody>
      </p:sp>
      <p:pic>
        <p:nvPicPr>
          <p:cNvPr descr="Image result for snellen chart in meters" id="281" name="Shape 2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000" y="519250"/>
            <a:ext cx="4142425" cy="615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Shape 282"/>
          <p:cNvSpPr/>
          <p:nvPr/>
        </p:nvSpPr>
        <p:spPr>
          <a:xfrm>
            <a:off x="3619750" y="4915700"/>
            <a:ext cx="684900" cy="60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Shape 283"/>
          <p:cNvSpPr/>
          <p:nvPr/>
        </p:nvSpPr>
        <p:spPr>
          <a:xfrm>
            <a:off x="4304600" y="528300"/>
            <a:ext cx="4167600" cy="6143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4" name="Shape 284"/>
          <p:cNvCxnSpPr/>
          <p:nvPr/>
        </p:nvCxnSpPr>
        <p:spPr>
          <a:xfrm>
            <a:off x="7366725" y="1389200"/>
            <a:ext cx="15456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Shape 285"/>
          <p:cNvCxnSpPr/>
          <p:nvPr/>
        </p:nvCxnSpPr>
        <p:spPr>
          <a:xfrm>
            <a:off x="7885225" y="2230550"/>
            <a:ext cx="110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Shape 286"/>
          <p:cNvCxnSpPr/>
          <p:nvPr/>
        </p:nvCxnSpPr>
        <p:spPr>
          <a:xfrm>
            <a:off x="7386300" y="1399000"/>
            <a:ext cx="9900" cy="1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Shape 287"/>
          <p:cNvCxnSpPr/>
          <p:nvPr/>
        </p:nvCxnSpPr>
        <p:spPr>
          <a:xfrm rot="10800000">
            <a:off x="7885125" y="1956725"/>
            <a:ext cx="9900" cy="29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" name="Shape 288"/>
          <p:cNvSpPr txBox="1"/>
          <p:nvPr/>
        </p:nvSpPr>
        <p:spPr>
          <a:xfrm>
            <a:off x="8941975" y="841200"/>
            <a:ext cx="19368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Distance at which user can see it from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Shape 289"/>
          <p:cNvSpPr txBox="1"/>
          <p:nvPr/>
        </p:nvSpPr>
        <p:spPr>
          <a:xfrm>
            <a:off x="8990725" y="1956725"/>
            <a:ext cx="18393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Distance at which a normal person can see it from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Shape 290"/>
          <p:cNvSpPr txBox="1"/>
          <p:nvPr/>
        </p:nvSpPr>
        <p:spPr>
          <a:xfrm>
            <a:off x="-103575" y="5308125"/>
            <a:ext cx="4410600" cy="559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Questrial"/>
                <a:ea typeface="Questrial"/>
                <a:cs typeface="Questrial"/>
                <a:sym typeface="Questrial"/>
              </a:rPr>
              <a:t> </a:t>
            </a:r>
            <a:endParaRPr/>
          </a:p>
        </p:txBody>
      </p:sp>
      <p:sp>
        <p:nvSpPr>
          <p:cNvPr id="291" name="Shape 291"/>
          <p:cNvSpPr/>
          <p:nvPr/>
        </p:nvSpPr>
        <p:spPr>
          <a:xfrm>
            <a:off x="-518500" y="5284725"/>
            <a:ext cx="2410800" cy="60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2" name="Shape 292"/>
          <p:cNvCxnSpPr/>
          <p:nvPr/>
        </p:nvCxnSpPr>
        <p:spPr>
          <a:xfrm>
            <a:off x="3208875" y="6110375"/>
            <a:ext cx="103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Shape 293"/>
          <p:cNvCxnSpPr/>
          <p:nvPr/>
        </p:nvCxnSpPr>
        <p:spPr>
          <a:xfrm flipH="1">
            <a:off x="3208850" y="5808850"/>
            <a:ext cx="4200" cy="29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</a:pPr>
            <a:r>
              <a:rPr lang="en-US" sz="4500"/>
              <a:t>What is special about the </a:t>
            </a:r>
            <a:r>
              <a:rPr lang="en-US" sz="4500"/>
              <a:t>alphabets</a:t>
            </a:r>
            <a:r>
              <a:rPr lang="en-US" sz="4500"/>
              <a:t>?</a:t>
            </a:r>
            <a:endParaRPr b="0" i="0" sz="4500" u="none" cap="none" strike="noStrike">
              <a:solidFill>
                <a:srgbClr val="0C0C0C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299" name="Shape 2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3325" y="2279750"/>
            <a:ext cx="73818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Shape 300"/>
          <p:cNvSpPr txBox="1"/>
          <p:nvPr/>
        </p:nvSpPr>
        <p:spPr>
          <a:xfrm>
            <a:off x="225025" y="2005550"/>
            <a:ext cx="4656900" cy="4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solidFill>
                  <a:srgbClr val="222222"/>
                </a:solidFill>
                <a:highlight>
                  <a:srgbClr val="FFFFFF"/>
                </a:highlight>
              </a:rPr>
              <a:t>Snellen developed charts using symbols based in a 5×5 unit grid </a:t>
            </a:r>
            <a:r>
              <a:rPr lang="en-US" sz="1300">
                <a:solidFill>
                  <a:srgbClr val="333333"/>
                </a:solidFill>
                <a:highlight>
                  <a:srgbClr val="FFFFFF"/>
                </a:highlight>
              </a:rPr>
              <a:t>so that the size of the </a:t>
            </a:r>
            <a:r>
              <a:rPr i="1" lang="en-US" sz="1300">
                <a:solidFill>
                  <a:srgbClr val="333333"/>
                </a:solidFill>
              </a:rPr>
              <a:t>critical detail</a:t>
            </a:r>
            <a:r>
              <a:rPr lang="en-US" sz="1300">
                <a:solidFill>
                  <a:srgbClr val="333333"/>
                </a:solidFill>
                <a:highlight>
                  <a:srgbClr val="FFFFFF"/>
                </a:highlight>
              </a:rPr>
              <a:t> (each gap width) subtends 1/5th of the overall height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Char char="●"/>
            </a:pPr>
            <a:r>
              <a:rPr lang="en-US" sz="1300">
                <a:solidFill>
                  <a:srgbClr val="222222"/>
                </a:solidFill>
                <a:highlight>
                  <a:srgbClr val="FFFFFF"/>
                </a:highlight>
              </a:rPr>
              <a:t>The thickness of the lines equals the thickness of the white spaces between line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Char char="●"/>
            </a:pPr>
            <a:r>
              <a:rPr lang="en-US" sz="1300">
                <a:solidFill>
                  <a:srgbClr val="222222"/>
                </a:solidFill>
                <a:highlight>
                  <a:srgbClr val="FFFFFF"/>
                </a:highlight>
              </a:rPr>
              <a:t>The height and width of the optotype (letter) is five times the thickness of the line.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01" name="Shape 3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200" y="4652650"/>
            <a:ext cx="5087326" cy="12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Shape 302"/>
          <p:cNvSpPr txBox="1"/>
          <p:nvPr/>
        </p:nvSpPr>
        <p:spPr>
          <a:xfrm>
            <a:off x="225025" y="5674225"/>
            <a:ext cx="52635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highlight>
                  <a:srgbClr val="FFFFFF"/>
                </a:highlight>
              </a:rPr>
              <a:t>where 1</a:t>
            </a:r>
            <a:r>
              <a:rPr lang="en-US" sz="1050">
                <a:solidFill>
                  <a:srgbClr val="222222"/>
                </a:solidFill>
                <a:highlight>
                  <a:srgbClr val="FFFFFF"/>
                </a:highlight>
              </a:rPr>
              <a:t> minute of arc is </a:t>
            </a:r>
            <a:r>
              <a:rPr lang="en-US" sz="900">
                <a:solidFill>
                  <a:srgbClr val="222222"/>
                </a:solidFill>
              </a:rPr>
              <a:t>1/60</a:t>
            </a:r>
            <a:r>
              <a:rPr lang="en-US" sz="1050">
                <a:solidFill>
                  <a:srgbClr val="222222"/>
                </a:solidFill>
                <a:highlight>
                  <a:srgbClr val="FFFFFF"/>
                </a:highlight>
              </a:rPr>
              <a:t> of a 1 degree</a:t>
            </a:r>
            <a:endParaRPr/>
          </a:p>
        </p:txBody>
      </p:sp>
      <p:sp>
        <p:nvSpPr>
          <p:cNvPr id="303" name="Shape 303"/>
          <p:cNvSpPr txBox="1"/>
          <p:nvPr/>
        </p:nvSpPr>
        <p:spPr>
          <a:xfrm>
            <a:off x="6427572" y="6390850"/>
            <a:ext cx="70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7B7B7"/>
                </a:solidFill>
              </a:rPr>
              <a:t>Source : http://optometryzone.com/2016/11/10/visual-acuity-chart/</a:t>
            </a:r>
            <a:endParaRPr>
              <a:solidFill>
                <a:srgbClr val="B7B7B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5A5A5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</a:pPr>
            <a:r>
              <a:rPr lang="en-US"/>
              <a:t>Can this test be made mobile?</a:t>
            </a:r>
            <a:endParaRPr b="0" i="0" sz="5000" u="none" cap="none" strike="noStrike">
              <a:solidFill>
                <a:srgbClr val="0C0C0C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09" name="Shape 309"/>
          <p:cNvSpPr txBox="1"/>
          <p:nvPr>
            <p:ph idx="1" type="body"/>
          </p:nvPr>
        </p:nvSpPr>
        <p:spPr>
          <a:xfrm>
            <a:off x="1024125" y="2386350"/>
            <a:ext cx="10040700" cy="29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9144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There have been multiple attempts to make an online eye check-up test.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But most of these turned out to be not accurate and definitely "not a replacement for a comprehensive eye health examination.”</a:t>
            </a:r>
            <a:r>
              <a:rPr b="0" baseline="3000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[CNN]</a:t>
            </a:r>
            <a:endParaRPr/>
          </a:p>
          <a:p>
            <a:pPr indent="-9144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The users easily see all the lines of the Snellen Chart while using the phone</a:t>
            </a:r>
            <a:endParaRPr b="0" baseline="30000" i="0" sz="25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4826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t/>
            </a:r>
            <a:endParaRPr b="0" baseline="30000" i="0" sz="2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4826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None/>
            </a:pPr>
            <a:r>
              <a:t/>
            </a:r>
            <a:endParaRPr b="0" baseline="30000" i="0" sz="2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10" name="Shape 310"/>
          <p:cNvSpPr txBox="1"/>
          <p:nvPr/>
        </p:nvSpPr>
        <p:spPr>
          <a:xfrm>
            <a:off x="929400" y="6325850"/>
            <a:ext cx="111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5A5A5"/>
                </a:solidFill>
                <a:latin typeface="Questrial"/>
                <a:ea typeface="Questrial"/>
                <a:cs typeface="Questrial"/>
                <a:sym typeface="Questrial"/>
              </a:rPr>
              <a:t>Source : https://www.cnn.com/2017/03/15/health/online-eye-exam-telemedicine-explainer/index.html</a:t>
            </a:r>
            <a:endParaRPr sz="1800">
              <a:solidFill>
                <a:srgbClr val="A5A5A5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</a:pPr>
            <a:r>
              <a:rPr lang="en-US"/>
              <a:t>HCI to the Rescue!</a:t>
            </a:r>
            <a:endParaRPr b="0" i="0" sz="5000" u="none" cap="none" strike="noStrike">
              <a:solidFill>
                <a:srgbClr val="0C0C0C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descr="\displaystyle w=2d\,{\tan {{\theta } \over {2}}}}" id="316" name="Shape 316"/>
          <p:cNvSpPr/>
          <p:nvPr/>
        </p:nvSpPr>
        <p:spPr>
          <a:xfrm>
            <a:off x="0" y="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descr="\displaystyle w=2d\,{\tan {{\theta } \over {2}}}}" id="317" name="Shape 317"/>
          <p:cNvSpPr/>
          <p:nvPr/>
        </p:nvSpPr>
        <p:spPr>
          <a:xfrm>
            <a:off x="152400" y="1524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descr="\displaystyle w=2d\,{\tan {{\theta } \over {2}}}}" id="318" name="Shape 318"/>
          <p:cNvSpPr/>
          <p:nvPr/>
        </p:nvSpPr>
        <p:spPr>
          <a:xfrm>
            <a:off x="304800" y="3048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descr="\displaystyle w=2d\,{\tan {{\theta } \over {2}}}}" id="319" name="Shape 319"/>
          <p:cNvSpPr/>
          <p:nvPr/>
        </p:nvSpPr>
        <p:spPr>
          <a:xfrm>
            <a:off x="457200" y="4572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320" name="Shape 320"/>
          <p:cNvPicPr preferRelativeResize="0"/>
          <p:nvPr/>
        </p:nvPicPr>
        <p:blipFill rotWithShape="1">
          <a:blip r:embed="rId3">
            <a:alphaModFix/>
          </a:blip>
          <a:srcRect b="0" l="0" r="0" t="4131"/>
          <a:stretch/>
        </p:blipFill>
        <p:spPr>
          <a:xfrm>
            <a:off x="1240725" y="2367525"/>
            <a:ext cx="9286875" cy="14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Shape 3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4825" y="4083825"/>
            <a:ext cx="9744075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is this information used?</a:t>
            </a:r>
            <a:endParaRPr/>
          </a:p>
        </p:txBody>
      </p:sp>
      <p:sp>
        <p:nvSpPr>
          <p:cNvPr id="327" name="Shape 327"/>
          <p:cNvSpPr txBox="1"/>
          <p:nvPr>
            <p:ph idx="1" type="body"/>
          </p:nvPr>
        </p:nvSpPr>
        <p:spPr>
          <a:xfrm>
            <a:off x="1024128" y="2286000"/>
            <a:ext cx="97200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After doing all these calculations we came up with the </a:t>
            </a:r>
            <a:r>
              <a:rPr lang="en-US" sz="1800">
                <a:solidFill>
                  <a:srgbClr val="4A86E8"/>
                </a:solidFill>
              </a:rPr>
              <a:t>golden number</a:t>
            </a:r>
            <a:r>
              <a:rPr lang="en-US" sz="1800">
                <a:solidFill>
                  <a:srgbClr val="000000"/>
                </a:solidFill>
              </a:rPr>
              <a:t> that tells us the size of the largest optotype on the basis of the distance between the face and the screen</a:t>
            </a:r>
            <a:endParaRPr sz="1800">
              <a:solidFill>
                <a:srgbClr val="000000"/>
              </a:solidFill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solidFill>
                  <a:srgbClr val="000000"/>
                </a:solidFill>
              </a:rPr>
              <a:t>Height &amp; Width of the largest Optotype = </a:t>
            </a:r>
            <a:r>
              <a:rPr lang="en-US" sz="4000">
                <a:solidFill>
                  <a:srgbClr val="4A86E8"/>
                </a:solidFill>
              </a:rPr>
              <a:t>               </a:t>
            </a:r>
            <a:r>
              <a:rPr lang="en-US" sz="1800">
                <a:solidFill>
                  <a:srgbClr val="000000"/>
                </a:solidFill>
              </a:rPr>
              <a:t>× </a:t>
            </a:r>
            <a:r>
              <a:rPr lang="en-US" sz="2000">
                <a:solidFill>
                  <a:srgbClr val="000000"/>
                </a:solidFill>
              </a:rPr>
              <a:t>Phone-to-Screen distance</a:t>
            </a:r>
            <a:endParaRPr sz="2000">
              <a:solidFill>
                <a:srgbClr val="000000"/>
              </a:solidFill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solidFill>
                  <a:srgbClr val="000000"/>
                </a:solidFill>
              </a:rPr>
              <a:t> 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solidFill>
                  <a:srgbClr val="000000"/>
                </a:solidFill>
              </a:rPr>
              <a:t> 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Shape 328"/>
          <p:cNvSpPr txBox="1"/>
          <p:nvPr/>
        </p:nvSpPr>
        <p:spPr>
          <a:xfrm>
            <a:off x="5312250" y="3463225"/>
            <a:ext cx="13989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rgbClr val="4A86E8"/>
                </a:solidFill>
                <a:latin typeface="Questrial"/>
                <a:ea typeface="Questrial"/>
                <a:cs typeface="Questrial"/>
                <a:sym typeface="Questrial"/>
              </a:rPr>
              <a:t>68.76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That's</a:t>
            </a:r>
            <a:r>
              <a:rPr lang="en-US"/>
              <a:t> how the test is </a:t>
            </a:r>
            <a:r>
              <a:rPr lang="en-US"/>
              <a:t>optimized</a:t>
            </a:r>
            <a:r>
              <a:rPr lang="en-US"/>
              <a:t>!</a:t>
            </a:r>
            <a:endParaRPr/>
          </a:p>
        </p:txBody>
      </p:sp>
      <p:sp>
        <p:nvSpPr>
          <p:cNvPr id="334" name="Shape 334"/>
          <p:cNvSpPr/>
          <p:nvPr/>
        </p:nvSpPr>
        <p:spPr>
          <a:xfrm>
            <a:off x="4633275" y="2202313"/>
            <a:ext cx="2403300" cy="411870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Shape 3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355" y="2202313"/>
            <a:ext cx="2403151" cy="411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/>
          <p:nvPr/>
        </p:nvSpPr>
        <p:spPr>
          <a:xfrm>
            <a:off x="4900625" y="2235525"/>
            <a:ext cx="2133300" cy="19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-US" sz="10000">
                <a:solidFill>
                  <a:srgbClr val="4A86E8"/>
                </a:solidFill>
                <a:highlight>
                  <a:srgbClr val="FFFFFF"/>
                </a:highlight>
                <a:latin typeface="Amatic SC"/>
                <a:ea typeface="Amatic SC"/>
                <a:cs typeface="Amatic SC"/>
                <a:sym typeface="Amatic SC"/>
              </a:rPr>
              <a:t>DEMO</a:t>
            </a:r>
            <a:endParaRPr b="1" sz="10000">
              <a:solidFill>
                <a:srgbClr val="4A86E8"/>
              </a:solidFill>
              <a:highlight>
                <a:srgbClr val="FFFFFF"/>
              </a:highlight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341" name="Shape 341"/>
          <p:cNvPicPr preferRelativeResize="0"/>
          <p:nvPr/>
        </p:nvPicPr>
        <p:blipFill rotWithShape="1">
          <a:blip r:embed="rId3">
            <a:alphaModFix amt="44000"/>
          </a:blip>
          <a:srcRect b="36227" l="22921" r="15773" t="50105"/>
          <a:stretch/>
        </p:blipFill>
        <p:spPr>
          <a:xfrm>
            <a:off x="10779225" y="6351549"/>
            <a:ext cx="1051575" cy="23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Shape 3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5150" y="6284575"/>
            <a:ext cx="368350" cy="36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 txBox="1"/>
          <p:nvPr/>
        </p:nvSpPr>
        <p:spPr>
          <a:xfrm>
            <a:off x="3163950" y="2284450"/>
            <a:ext cx="7171200" cy="19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-US" sz="10000" u="sng">
                <a:solidFill>
                  <a:srgbClr val="4A86E8"/>
                </a:solidFill>
                <a:highlight>
                  <a:srgbClr val="FFFFFF"/>
                </a:highlight>
                <a:latin typeface="Amatic SC"/>
                <a:ea typeface="Amatic SC"/>
                <a:cs typeface="Amatic SC"/>
                <a:sym typeface="Amatic SC"/>
                <a:hlinkClick r:id="rId3"/>
              </a:rPr>
              <a:t>www.ocufy.xyz</a:t>
            </a:r>
            <a:endParaRPr b="1" sz="10000">
              <a:solidFill>
                <a:srgbClr val="4A86E8"/>
              </a:solidFill>
              <a:highlight>
                <a:srgbClr val="FFFFFF"/>
              </a:highlight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348" name="Shape 348"/>
          <p:cNvPicPr preferRelativeResize="0"/>
          <p:nvPr/>
        </p:nvPicPr>
        <p:blipFill rotWithShape="1">
          <a:blip r:embed="rId4">
            <a:alphaModFix amt="44000"/>
          </a:blip>
          <a:srcRect b="36227" l="22921" r="15773" t="50105"/>
          <a:stretch/>
        </p:blipFill>
        <p:spPr>
          <a:xfrm>
            <a:off x="10779225" y="6351549"/>
            <a:ext cx="1051575" cy="23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Shape 3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35150" y="6284575"/>
            <a:ext cx="368350" cy="36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</a:pPr>
            <a:r>
              <a:rPr lang="en-US"/>
              <a:t>Future Scope</a:t>
            </a:r>
            <a:endParaRPr b="0" i="0" sz="5000" u="none" cap="none" strike="noStrike">
              <a:solidFill>
                <a:srgbClr val="0C0C0C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55" name="Shape 355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AutoNum type="arabicPeriod"/>
            </a:pPr>
            <a:r>
              <a:rPr lang="en-US"/>
              <a:t>Using the face detection module as a service so that the test can be stopped every time a user takes the phone near the face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AutoNum type="arabicPeriod"/>
            </a:pPr>
            <a:r>
              <a:rPr lang="en-US"/>
              <a:t>Design an algorithm to provide u</a:t>
            </a:r>
            <a:r>
              <a:rPr lang="en-US"/>
              <a:t>nique eye test for each individual on basis of user’s phone distance, age, gender etc.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AutoNum type="arabicPeriod"/>
            </a:pPr>
            <a:r>
              <a:rPr lang="en-US"/>
              <a:t>Provide relevant doctor suggestions in nearby locality(using apis) if the user requires to </a:t>
            </a:r>
            <a:r>
              <a:rPr lang="en-US"/>
              <a:t>immediately</a:t>
            </a:r>
            <a:r>
              <a:rPr lang="en-US"/>
              <a:t> check up with an </a:t>
            </a:r>
            <a:r>
              <a:rPr lang="en-US"/>
              <a:t>opthamologist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Questrial"/>
              <a:buAutoNum type="arabicPeriod"/>
            </a:pPr>
            <a:r>
              <a:rPr lang="en-US"/>
              <a:t>Increase the functionality of the application by providing tests to check colour blindness, astigmatism, contrast/sensitivity, cataract detection, duochrome acuity etc.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 txBox="1"/>
          <p:nvPr/>
        </p:nvSpPr>
        <p:spPr>
          <a:xfrm>
            <a:off x="3217925" y="2401850"/>
            <a:ext cx="6261900" cy="19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-US" sz="10000">
                <a:solidFill>
                  <a:srgbClr val="4A86E8"/>
                </a:solidFill>
                <a:highlight>
                  <a:srgbClr val="FFFFFF"/>
                </a:highlight>
                <a:latin typeface="Amatic SC"/>
                <a:ea typeface="Amatic SC"/>
                <a:cs typeface="Amatic SC"/>
                <a:sym typeface="Amatic SC"/>
              </a:rPr>
              <a:t>ANY QUESTIONS?</a:t>
            </a:r>
            <a:endParaRPr b="1" sz="10000">
              <a:solidFill>
                <a:srgbClr val="4A86E8"/>
              </a:solidFill>
              <a:highlight>
                <a:srgbClr val="FFFFFF"/>
              </a:highlight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361" name="Shape 3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5150" y="6284575"/>
            <a:ext cx="368350" cy="3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Shape 362"/>
          <p:cNvPicPr preferRelativeResize="0"/>
          <p:nvPr/>
        </p:nvPicPr>
        <p:blipFill rotWithShape="1">
          <a:blip r:embed="rId4">
            <a:alphaModFix amt="44000"/>
          </a:blip>
          <a:srcRect b="36227" l="22921" r="15773" t="50105"/>
          <a:stretch/>
        </p:blipFill>
        <p:spPr>
          <a:xfrm>
            <a:off x="10779225" y="6351549"/>
            <a:ext cx="1051575" cy="2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367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Questrial"/>
              <a:buNone/>
            </a:pPr>
            <a:r>
              <a:rPr b="0" i="0" lang="en-US" sz="5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rPr>
              <a:t>THANKYOU</a:t>
            </a:r>
            <a:endParaRPr b="0" i="0" sz="5000" u="none" cap="none" strike="noStrike">
              <a:solidFill>
                <a:srgbClr val="0C0C0C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68" name="Shape 368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estrial"/>
              <a:buNone/>
            </a:pPr>
            <a:r>
              <a:t/>
            </a:r>
            <a:endParaRPr b="0" i="0" sz="1800" u="none" cap="none" strike="noStrike">
              <a:solidFill>
                <a:srgbClr val="0C0C0C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